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</p:sldIdLst>
  <p:sldSz cx="18288000" cy="10287000"/>
  <p:notesSz cx="6858000" cy="9144000"/>
  <p:embeddedFontLst>
    <p:embeddedFont>
      <p:font typeface="Canva Sans Bold" panose="020B0604020202020204" charset="0"/>
      <p:regular r:id="rId12"/>
    </p:embeddedFont>
    <p:embeddedFont>
      <p:font typeface="Horizon" panose="020B0604020202020204" charset="0"/>
      <p:regular r:id="rId13"/>
    </p:embeddedFont>
    <p:embeddedFont>
      <p:font typeface="Times New Roman MT" panose="020B0604020202020204" charset="0"/>
      <p:regular r:id="rId14"/>
    </p:embeddedFont>
    <p:embeddedFont>
      <p:font typeface="Times New Roman M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.png"/><Relationship Id="rId7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svg"/><Relationship Id="rId9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362341" y="2362123"/>
            <a:ext cx="6473404" cy="6759319"/>
          </a:xfrm>
          <a:custGeom>
            <a:avLst/>
            <a:gdLst/>
            <a:ahLst/>
            <a:cxnLst/>
            <a:rect l="l" t="t" r="r" b="b"/>
            <a:pathLst>
              <a:path w="6473404" h="6759319">
                <a:moveTo>
                  <a:pt x="0" y="0"/>
                </a:moveTo>
                <a:lnTo>
                  <a:pt x="6473403" y="0"/>
                </a:lnTo>
                <a:lnTo>
                  <a:pt x="6473403" y="6759319"/>
                </a:lnTo>
                <a:lnTo>
                  <a:pt x="0" y="6759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6346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0" y="0"/>
                </a:moveTo>
                <a:lnTo>
                  <a:pt x="1981152" y="0"/>
                </a:lnTo>
                <a:lnTo>
                  <a:pt x="1981152" y="2331116"/>
                </a:lnTo>
                <a:lnTo>
                  <a:pt x="0" y="233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43814" y="1910177"/>
            <a:ext cx="6993421" cy="1253616"/>
          </a:xfrm>
          <a:custGeom>
            <a:avLst/>
            <a:gdLst/>
            <a:ahLst/>
            <a:cxnLst/>
            <a:rect l="l" t="t" r="r" b="b"/>
            <a:pathLst>
              <a:path w="6993421" h="1253616">
                <a:moveTo>
                  <a:pt x="0" y="0"/>
                </a:moveTo>
                <a:lnTo>
                  <a:pt x="6993421" y="0"/>
                </a:lnTo>
                <a:lnTo>
                  <a:pt x="6993421" y="1253616"/>
                </a:lnTo>
                <a:lnTo>
                  <a:pt x="0" y="1253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1110" b="-3484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846706" y="4078591"/>
            <a:ext cx="7323706" cy="634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92"/>
              </a:lnSpc>
            </a:pPr>
            <a:r>
              <a:rPr lang="en-US" sz="3708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TEAM NAME : </a:t>
            </a:r>
            <a:r>
              <a:rPr lang="en-US" sz="3708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xFactors</a:t>
            </a:r>
            <a:r>
              <a:rPr lang="en-US" sz="3708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210" y="4782669"/>
            <a:ext cx="7894450" cy="65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73"/>
              </a:lnSpc>
            </a:pPr>
            <a:r>
              <a:rPr lang="en-US" sz="3838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PROBELM STATEMENT NO : 04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990600" y="6746783"/>
            <a:ext cx="7481875" cy="670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3905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Category : Software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381000" y="5695736"/>
            <a:ext cx="16757346" cy="1056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8"/>
              </a:lnSpc>
              <a:spcBef>
                <a:spcPct val="0"/>
              </a:spcBef>
            </a:pPr>
            <a:r>
              <a:rPr lang="en-US" sz="376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PROBLEM STATEMENT TITLE : Configurable Dual-Clock Asynchronous                 FIFO with Gray Code Pointers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00883" y="-647700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2917" y="2607624"/>
            <a:ext cx="16370683" cy="8076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data transfer between different clock domains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metastability and data loss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Full/Empty detection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 Gray-code pointers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timing-clean implementation </a:t>
            </a:r>
          </a:p>
          <a:p>
            <a:pPr lvl="0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enables reliable data buffering and transfer between independent clocks.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 • Metastability • Pointer synchronization • Timing closure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0600" y="2316482"/>
            <a:ext cx="8820181" cy="214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2"/>
              </a:lnSpc>
            </a:pPr>
            <a:r>
              <a:rPr lang="en-US" sz="3994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</a:p>
          <a:p>
            <a:pPr algn="ctr">
              <a:lnSpc>
                <a:spcPts val="5592"/>
              </a:lnSpc>
            </a:pPr>
            <a:endParaRPr lang="en-US" sz="3994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ctr">
              <a:lnSpc>
                <a:spcPts val="5592"/>
              </a:lnSpc>
            </a:pPr>
            <a:endParaRPr lang="en-US" sz="3994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6316373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74721" y="1855184"/>
            <a:ext cx="17365481" cy="7830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endParaRPr lang="en-US" sz="440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lvl="0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Asynchronous FIFO Design and Physical Implementation using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OpenLane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One-line solution: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and implemented a robust asynchronous FIFO for reliable data transfer between two independent clock domains. </a:t>
            </a:r>
          </a:p>
          <a:p>
            <a:pPr lvl="0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the problem: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separate read/write clock domains with synchronized control signals and Gray-code pointers to safely manage data transfer, followed by complete RTL-to-GDS physical implementation including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floorplanning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placement, CTS, routing, timing, power, and signoff checks.</a:t>
            </a:r>
          </a:p>
          <a:p>
            <a:pPr algn="ctr">
              <a:lnSpc>
                <a:spcPts val="7159"/>
              </a:lnSpc>
            </a:pPr>
            <a:endParaRPr lang="en-US" sz="44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9284" y="1865272"/>
            <a:ext cx="12480151" cy="1300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2800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Architectural Block Diagram</a:t>
            </a:r>
          </a:p>
          <a:p>
            <a:pPr marL="397273" lvl="1" algn="l">
              <a:lnSpc>
                <a:spcPts val="5152"/>
              </a:lnSpc>
            </a:pPr>
            <a:endParaRPr lang="en-US" sz="28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F2525F-10BD-E64E-2038-8473EC688E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890" y="2523166"/>
            <a:ext cx="15478125" cy="7129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3423" y="2384867"/>
            <a:ext cx="17704577" cy="7843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01"/>
              </a:lnSpc>
            </a:pPr>
            <a:r>
              <a:rPr lang="en-US" sz="3572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Purpose of Blocks</a:t>
            </a:r>
          </a:p>
          <a:p>
            <a:pPr algn="l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marL="742950" lvl="0" indent="-742950">
              <a:buFont typeface="+mj-lt"/>
              <a:buAutoNum type="arabicPeriod"/>
            </a:pPr>
            <a:r>
              <a:rPr lang="en-IN" sz="4400" b="1" dirty="0"/>
              <a:t>Input:</a:t>
            </a:r>
            <a:r>
              <a:rPr lang="en-IN" sz="4400" dirty="0"/>
              <a:t> </a:t>
            </a:r>
            <a:r>
              <a:rPr lang="en-IN" sz="4400" dirty="0" err="1"/>
              <a:t>wr_data</a:t>
            </a:r>
            <a:r>
              <a:rPr lang="en-IN" sz="4400" dirty="0"/>
              <a:t>, </a:t>
            </a:r>
            <a:r>
              <a:rPr lang="en-IN" sz="4400" dirty="0" err="1"/>
              <a:t>rd_en</a:t>
            </a:r>
            <a:r>
              <a:rPr lang="en-IN" sz="4400" dirty="0"/>
              <a:t>/</a:t>
            </a:r>
            <a:r>
              <a:rPr lang="en-IN" sz="4400" dirty="0" err="1"/>
              <a:t>wr_en</a:t>
            </a:r>
            <a:r>
              <a:rPr lang="en-IN" sz="4400" dirty="0"/>
              <a:t>, </a:t>
            </a:r>
            <a:r>
              <a:rPr lang="en-IN" sz="4400" dirty="0" err="1"/>
              <a:t>wr_clk</a:t>
            </a:r>
            <a:r>
              <a:rPr lang="en-IN" sz="4400" dirty="0"/>
              <a:t>/</a:t>
            </a:r>
            <a:r>
              <a:rPr lang="en-IN" sz="4400" dirty="0" err="1"/>
              <a:t>rd_clk</a:t>
            </a:r>
            <a:r>
              <a:rPr lang="en-IN" sz="4400" dirty="0"/>
              <a:t> — capture data and control signals.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400" b="1" dirty="0"/>
              <a:t>Processing:</a:t>
            </a:r>
            <a:r>
              <a:rPr lang="en-IN" sz="4400" dirty="0"/>
              <a:t> FIFO memory, binary/Gray pointers, and </a:t>
            </a:r>
            <a:r>
              <a:rPr lang="en-IN" sz="4400" b="1" dirty="0"/>
              <a:t>2-FF synchronizers</a:t>
            </a:r>
            <a:r>
              <a:rPr lang="en-IN" sz="4400" dirty="0"/>
              <a:t> — safely manage data transfer between independent clock domains.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400" b="1" dirty="0"/>
              <a:t>Output:</a:t>
            </a:r>
            <a:r>
              <a:rPr lang="en-IN" sz="4400" dirty="0"/>
              <a:t> </a:t>
            </a:r>
            <a:r>
              <a:rPr lang="en-IN" sz="4400" dirty="0" err="1"/>
              <a:t>rd_data</a:t>
            </a:r>
            <a:r>
              <a:rPr lang="en-IN" sz="4400" dirty="0"/>
              <a:t>, </a:t>
            </a:r>
            <a:r>
              <a:rPr lang="en-IN" sz="4400" b="1" dirty="0"/>
              <a:t>Full/Empty flags</a:t>
            </a:r>
            <a:r>
              <a:rPr lang="en-IN" sz="4400" dirty="0"/>
              <a:t> — provide stored data and FIFO status.</a:t>
            </a:r>
          </a:p>
          <a:p>
            <a:pPr algn="l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D8DD778-CC71-3F47-0433-7CF7B32111A3}"/>
              </a:ext>
            </a:extLst>
          </p:cNvPr>
          <p:cNvSpPr>
            <a:spLocks noGrp="1"/>
          </p:cNvSpPr>
          <p:nvPr/>
        </p:nvSpPr>
        <p:spPr>
          <a:xfrm>
            <a:off x="1447800" y="1866900"/>
            <a:ext cx="10515600" cy="732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VERIFICATION &amp; WAVEFORM EVIDENCE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B9A497-24DD-EEBA-7CC5-B8E5EA476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422" y="2400300"/>
            <a:ext cx="11359978" cy="6725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527D15-4723-8D51-9B60-6ACE4485C6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46570" y="2400300"/>
            <a:ext cx="5449719" cy="6752770"/>
          </a:xfrm>
          <a:prstGeom prst="rect">
            <a:avLst/>
          </a:prstGeom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AA4D08BB-88BA-06F3-F472-8EB7277ACAEE}"/>
              </a:ext>
            </a:extLst>
          </p:cNvPr>
          <p:cNvSpPr txBox="1"/>
          <p:nvPr/>
        </p:nvSpPr>
        <p:spPr>
          <a:xfrm>
            <a:off x="1676400" y="9258300"/>
            <a:ext cx="87357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 err="1">
                <a:latin typeface="Times New Roman"/>
              </a:rPr>
              <a:t>GTKWave</a:t>
            </a:r>
            <a:r>
              <a:rPr sz="2000" b="1" dirty="0">
                <a:latin typeface="Times New Roman"/>
              </a:rPr>
              <a:t> – Gray pointers, synchronized pointers, read/write clocks and flags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A638B801-4405-C8D5-20F8-8668C0DDC364}"/>
              </a:ext>
            </a:extLst>
          </p:cNvPr>
          <p:cNvSpPr txBox="1"/>
          <p:nvPr/>
        </p:nvSpPr>
        <p:spPr>
          <a:xfrm>
            <a:off x="13192624" y="9303361"/>
            <a:ext cx="34373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latin typeface="Times New Roman"/>
              </a:rPr>
              <a:t>Self-checking testbench result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D1CE0DA0-9D48-6268-1EFF-61A372754AC2}"/>
              </a:ext>
            </a:extLst>
          </p:cNvPr>
          <p:cNvSpPr txBox="1"/>
          <p:nvPr/>
        </p:nvSpPr>
        <p:spPr>
          <a:xfrm>
            <a:off x="11978257" y="9577681"/>
            <a:ext cx="60032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latin typeface="Times New Roman"/>
              </a:rPr>
              <a:t>12 writes • 10 reads • 0 errors • ALL TESTS PASSED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3F6BA-93A7-284E-45A5-1FCEB155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9D5EC01-0279-3371-F675-C562D7BA8966}"/>
              </a:ext>
            </a:extLst>
          </p:cNvPr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CC45CD0-A8EE-85B9-6A5C-912962BB4E97}"/>
              </a:ext>
            </a:extLst>
          </p:cNvPr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F8ADD73-4FC3-3C72-BBD9-84B2A470B21C}"/>
              </a:ext>
            </a:extLst>
          </p:cNvPr>
          <p:cNvSpPr/>
          <p:nvPr/>
        </p:nvSpPr>
        <p:spPr>
          <a:xfrm>
            <a:off x="4600883" y="-755055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58E3A60-C84F-11FA-743A-8819A6E72CD8}"/>
              </a:ext>
            </a:extLst>
          </p:cNvPr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804E963-63F7-7020-1BD8-90177F5277B2}"/>
              </a:ext>
            </a:extLst>
          </p:cNvPr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4DD3F3-F746-9AE9-7D92-8A037FF824A1}"/>
              </a:ext>
            </a:extLst>
          </p:cNvPr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491E0C-CADF-0695-10AD-8CFB6C2F1C4F}"/>
              </a:ext>
            </a:extLst>
          </p:cNvPr>
          <p:cNvSpPr/>
          <p:nvPr/>
        </p:nvSpPr>
        <p:spPr>
          <a:xfrm flipH="1" flipV="1">
            <a:off x="0" y="-7016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50CE7C9-8B00-8EAB-E0BE-ED056DBD8FD5}"/>
              </a:ext>
            </a:extLst>
          </p:cNvPr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459152D-883E-A2E4-F7A7-96ADA11ED2B7}"/>
              </a:ext>
            </a:extLst>
          </p:cNvPr>
          <p:cNvSpPr>
            <a:spLocks noGrp="1"/>
          </p:cNvSpPr>
          <p:nvPr/>
        </p:nvSpPr>
        <p:spPr>
          <a:xfrm>
            <a:off x="1447800" y="926255"/>
            <a:ext cx="11990897" cy="12454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 dirty="0">
                <a:solidFill>
                  <a:srgbClr val="000000"/>
                </a:solidFill>
                <a:latin typeface="Times New Roman"/>
              </a:rPr>
              <a:t>RTL-to-GDSII IMPLEMENTATION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22756A9-8440-5C97-7B94-54EA2F6985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440" y="3218020"/>
            <a:ext cx="8744210" cy="58116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C86FCA7-F28C-8E09-6C1F-67085D0FB7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8650" y="3218019"/>
            <a:ext cx="9289350" cy="5811681"/>
          </a:xfrm>
          <a:prstGeom prst="rect">
            <a:avLst/>
          </a:prstGeom>
        </p:spPr>
      </p:pic>
      <p:sp>
        <p:nvSpPr>
          <p:cNvPr id="27" name="TextBox 17">
            <a:extLst>
              <a:ext uri="{FF2B5EF4-FFF2-40B4-BE49-F238E27FC236}">
                <a16:creationId xmlns:a16="http://schemas.microsoft.com/office/drawing/2014/main" id="{1948F5C5-63E8-7BA2-2921-67EC112B20F0}"/>
              </a:ext>
            </a:extLst>
          </p:cNvPr>
          <p:cNvSpPr txBox="1"/>
          <p:nvPr/>
        </p:nvSpPr>
        <p:spPr>
          <a:xfrm>
            <a:off x="1477239" y="8990636"/>
            <a:ext cx="52134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latin typeface="Times New Roman"/>
              </a:rPr>
              <a:t>Synthesized gate-level/netlist representation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B574C0F8-6DC1-9EEC-E9F5-FE8BFAB5FC1A}"/>
              </a:ext>
            </a:extLst>
          </p:cNvPr>
          <p:cNvSpPr txBox="1"/>
          <p:nvPr/>
        </p:nvSpPr>
        <p:spPr>
          <a:xfrm>
            <a:off x="11093367" y="8953500"/>
            <a:ext cx="52134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 err="1">
                <a:latin typeface="Times New Roman"/>
              </a:rPr>
              <a:t>OpenROAD</a:t>
            </a:r>
            <a:r>
              <a:rPr sz="2000" b="1" dirty="0">
                <a:latin typeface="Times New Roman"/>
              </a:rPr>
              <a:t> physical implementation view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644ED577-2A0F-F574-2887-F7DB59384AFE}"/>
              </a:ext>
            </a:extLst>
          </p:cNvPr>
          <p:cNvSpPr txBox="1"/>
          <p:nvPr/>
        </p:nvSpPr>
        <p:spPr>
          <a:xfrm>
            <a:off x="2895600" y="9486900"/>
            <a:ext cx="111567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latin typeface="Times New Roman"/>
              </a:rPr>
              <a:t>Implemented using open-source RTL-to-GDSII tooling; final database (ODB) generated in the project run.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D9235541-5894-64C5-B96A-45A9C28426DF}"/>
              </a:ext>
            </a:extLst>
          </p:cNvPr>
          <p:cNvSpPr txBox="1"/>
          <p:nvPr/>
        </p:nvSpPr>
        <p:spPr>
          <a:xfrm>
            <a:off x="11804026" y="7495171"/>
            <a:ext cx="3128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000">
                <a:solidFill>
                  <a:srgbClr val="787878"/>
                </a:solidFill>
                <a:latin typeface="Times New Roman"/>
              </a:rPr>
              <a:t>6</a:t>
            </a:r>
          </a:p>
        </p:txBody>
      </p:sp>
      <p:sp>
        <p:nvSpPr>
          <p:cNvPr id="43" name="Rounded Rectangle 2">
            <a:extLst>
              <a:ext uri="{FF2B5EF4-FFF2-40B4-BE49-F238E27FC236}">
                <a16:creationId xmlns:a16="http://schemas.microsoft.com/office/drawing/2014/main" id="{3991AD11-4AA1-0B8A-6D77-9692AE92515C}"/>
              </a:ext>
            </a:extLst>
          </p:cNvPr>
          <p:cNvSpPr/>
          <p:nvPr/>
        </p:nvSpPr>
        <p:spPr>
          <a:xfrm>
            <a:off x="1699972" y="1811183"/>
            <a:ext cx="1729028" cy="1046317"/>
          </a:xfrm>
          <a:prstGeom prst="roundRect">
            <a:avLst/>
          </a:prstGeom>
          <a:solidFill>
            <a:srgbClr val="EBF0F8"/>
          </a:solidFill>
          <a:ln w="15240">
            <a:solidFill>
              <a:srgbClr val="2D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RTL</a:t>
            </a:r>
            <a:b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async_fifo.v</a:t>
            </a:r>
            <a:endParaRPr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nector 3">
            <a:extLst>
              <a:ext uri="{FF2B5EF4-FFF2-40B4-BE49-F238E27FC236}">
                <a16:creationId xmlns:a16="http://schemas.microsoft.com/office/drawing/2014/main" id="{5934373F-ED9B-C88E-1F5C-A7CF1E1624D8}"/>
              </a:ext>
            </a:extLst>
          </p:cNvPr>
          <p:cNvCxnSpPr/>
          <p:nvPr/>
        </p:nvCxnSpPr>
        <p:spPr>
          <a:xfrm>
            <a:off x="3429000" y="2394204"/>
            <a:ext cx="164592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">
            <a:extLst>
              <a:ext uri="{FF2B5EF4-FFF2-40B4-BE49-F238E27FC236}">
                <a16:creationId xmlns:a16="http://schemas.microsoft.com/office/drawing/2014/main" id="{560E10AB-8CD0-620F-61B8-2AD51A714465}"/>
              </a:ext>
            </a:extLst>
          </p:cNvPr>
          <p:cNvSpPr/>
          <p:nvPr/>
        </p:nvSpPr>
        <p:spPr>
          <a:xfrm>
            <a:off x="3617513" y="1754934"/>
            <a:ext cx="1868887" cy="1102566"/>
          </a:xfrm>
          <a:prstGeom prst="roundRect">
            <a:avLst/>
          </a:prstGeom>
          <a:solidFill>
            <a:srgbClr val="EBF0F8"/>
          </a:solidFill>
          <a:ln w="15240">
            <a:solidFill>
              <a:srgbClr val="2D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Simulation</a:t>
            </a:r>
            <a:b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VCD + self-checking TB</a:t>
            </a:r>
          </a:p>
        </p:txBody>
      </p:sp>
      <p:cxnSp>
        <p:nvCxnSpPr>
          <p:cNvPr id="46" name="Connector 5">
            <a:extLst>
              <a:ext uri="{FF2B5EF4-FFF2-40B4-BE49-F238E27FC236}">
                <a16:creationId xmlns:a16="http://schemas.microsoft.com/office/drawing/2014/main" id="{3CDC9A11-74C1-9AE8-A3AA-19712B7981F6}"/>
              </a:ext>
            </a:extLst>
          </p:cNvPr>
          <p:cNvCxnSpPr/>
          <p:nvPr/>
        </p:nvCxnSpPr>
        <p:spPr>
          <a:xfrm>
            <a:off x="7379208" y="2394204"/>
            <a:ext cx="164592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6">
            <a:extLst>
              <a:ext uri="{FF2B5EF4-FFF2-40B4-BE49-F238E27FC236}">
                <a16:creationId xmlns:a16="http://schemas.microsoft.com/office/drawing/2014/main" id="{B8474B5F-600E-3DAF-3C3E-3AB19E3C9488}"/>
              </a:ext>
            </a:extLst>
          </p:cNvPr>
          <p:cNvSpPr/>
          <p:nvPr/>
        </p:nvSpPr>
        <p:spPr>
          <a:xfrm>
            <a:off x="5678822" y="1767978"/>
            <a:ext cx="1712578" cy="1089522"/>
          </a:xfrm>
          <a:prstGeom prst="roundRect">
            <a:avLst/>
          </a:prstGeom>
          <a:solidFill>
            <a:srgbClr val="EBF0F8"/>
          </a:solidFill>
          <a:ln w="15240">
            <a:solidFill>
              <a:srgbClr val="2D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Synthesis</a:t>
            </a:r>
            <a:b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Yosys</a:t>
            </a:r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standard cells</a:t>
            </a:r>
          </a:p>
        </p:txBody>
      </p:sp>
      <p:cxnSp>
        <p:nvCxnSpPr>
          <p:cNvPr id="48" name="Connector 7">
            <a:extLst>
              <a:ext uri="{FF2B5EF4-FFF2-40B4-BE49-F238E27FC236}">
                <a16:creationId xmlns:a16="http://schemas.microsoft.com/office/drawing/2014/main" id="{46CFC107-9132-11E7-C58F-2A855386B098}"/>
              </a:ext>
            </a:extLst>
          </p:cNvPr>
          <p:cNvCxnSpPr/>
          <p:nvPr/>
        </p:nvCxnSpPr>
        <p:spPr>
          <a:xfrm>
            <a:off x="6547103" y="2394204"/>
            <a:ext cx="164592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8">
            <a:extLst>
              <a:ext uri="{FF2B5EF4-FFF2-40B4-BE49-F238E27FC236}">
                <a16:creationId xmlns:a16="http://schemas.microsoft.com/office/drawing/2014/main" id="{49557E2A-B76C-EEED-DF68-88BD8AE498D7}"/>
              </a:ext>
            </a:extLst>
          </p:cNvPr>
          <p:cNvSpPr/>
          <p:nvPr/>
        </p:nvSpPr>
        <p:spPr>
          <a:xfrm>
            <a:off x="7532433" y="1790700"/>
            <a:ext cx="1840167" cy="1106978"/>
          </a:xfrm>
          <a:prstGeom prst="roundRect">
            <a:avLst/>
          </a:prstGeom>
          <a:solidFill>
            <a:srgbClr val="EBF0F8"/>
          </a:solidFill>
          <a:ln w="15240">
            <a:solidFill>
              <a:srgbClr val="2D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Constraints</a:t>
            </a:r>
            <a:b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SDC + CDC exceptions</a:t>
            </a:r>
          </a:p>
        </p:txBody>
      </p:sp>
      <p:cxnSp>
        <p:nvCxnSpPr>
          <p:cNvPr id="50" name="Connector 9">
            <a:extLst>
              <a:ext uri="{FF2B5EF4-FFF2-40B4-BE49-F238E27FC236}">
                <a16:creationId xmlns:a16="http://schemas.microsoft.com/office/drawing/2014/main" id="{29FD2887-3214-A161-B3A7-FCFB2163A418}"/>
              </a:ext>
            </a:extLst>
          </p:cNvPr>
          <p:cNvCxnSpPr/>
          <p:nvPr/>
        </p:nvCxnSpPr>
        <p:spPr>
          <a:xfrm>
            <a:off x="9436608" y="2394204"/>
            <a:ext cx="164592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2D17E61C-7808-AD5E-675D-AEC3994F39B3}"/>
              </a:ext>
            </a:extLst>
          </p:cNvPr>
          <p:cNvSpPr/>
          <p:nvPr/>
        </p:nvSpPr>
        <p:spPr>
          <a:xfrm>
            <a:off x="9608123" y="1790700"/>
            <a:ext cx="1974277" cy="1089521"/>
          </a:xfrm>
          <a:prstGeom prst="roundRect">
            <a:avLst/>
          </a:prstGeom>
          <a:solidFill>
            <a:srgbClr val="EBF0F8"/>
          </a:solidFill>
          <a:ln w="15240">
            <a:solidFill>
              <a:srgbClr val="2D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Physical Design</a:t>
            </a:r>
            <a:b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Floorplan → Placement → CTS</a:t>
            </a:r>
          </a:p>
        </p:txBody>
      </p:sp>
      <p:cxnSp>
        <p:nvCxnSpPr>
          <p:cNvPr id="52" name="Connector 11">
            <a:extLst>
              <a:ext uri="{FF2B5EF4-FFF2-40B4-BE49-F238E27FC236}">
                <a16:creationId xmlns:a16="http://schemas.microsoft.com/office/drawing/2014/main" id="{9C0D60EA-40B7-D8D9-904F-3434E1261064}"/>
              </a:ext>
            </a:extLst>
          </p:cNvPr>
          <p:cNvCxnSpPr/>
          <p:nvPr/>
        </p:nvCxnSpPr>
        <p:spPr>
          <a:xfrm>
            <a:off x="11570208" y="2394204"/>
            <a:ext cx="164592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12">
            <a:extLst>
              <a:ext uri="{FF2B5EF4-FFF2-40B4-BE49-F238E27FC236}">
                <a16:creationId xmlns:a16="http://schemas.microsoft.com/office/drawing/2014/main" id="{96D6B14D-1563-2855-895E-7A8DCE88F433}"/>
              </a:ext>
            </a:extLst>
          </p:cNvPr>
          <p:cNvSpPr/>
          <p:nvPr/>
        </p:nvSpPr>
        <p:spPr>
          <a:xfrm>
            <a:off x="11730985" y="1790700"/>
            <a:ext cx="1832615" cy="1089522"/>
          </a:xfrm>
          <a:prstGeom prst="roundRect">
            <a:avLst/>
          </a:prstGeom>
          <a:solidFill>
            <a:srgbClr val="EBF0F8"/>
          </a:solidFill>
          <a:ln w="15240">
            <a:solidFill>
              <a:srgbClr val="2D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Routing</a:t>
            </a:r>
            <a:b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+ Detailed Route</a:t>
            </a:r>
          </a:p>
        </p:txBody>
      </p:sp>
      <p:cxnSp>
        <p:nvCxnSpPr>
          <p:cNvPr id="54" name="Connector 13">
            <a:extLst>
              <a:ext uri="{FF2B5EF4-FFF2-40B4-BE49-F238E27FC236}">
                <a16:creationId xmlns:a16="http://schemas.microsoft.com/office/drawing/2014/main" id="{A646543A-10EC-5939-5403-2FF97CD9556C}"/>
              </a:ext>
            </a:extLst>
          </p:cNvPr>
          <p:cNvCxnSpPr/>
          <p:nvPr/>
        </p:nvCxnSpPr>
        <p:spPr>
          <a:xfrm>
            <a:off x="13627608" y="2394204"/>
            <a:ext cx="164592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14">
            <a:extLst>
              <a:ext uri="{FF2B5EF4-FFF2-40B4-BE49-F238E27FC236}">
                <a16:creationId xmlns:a16="http://schemas.microsoft.com/office/drawing/2014/main" id="{F057B08A-5FDD-BEFD-1B70-A4E6324A1132}"/>
              </a:ext>
            </a:extLst>
          </p:cNvPr>
          <p:cNvSpPr/>
          <p:nvPr/>
        </p:nvSpPr>
        <p:spPr>
          <a:xfrm>
            <a:off x="13792200" y="1734983"/>
            <a:ext cx="1974277" cy="1198717"/>
          </a:xfrm>
          <a:prstGeom prst="roundRect">
            <a:avLst/>
          </a:prstGeom>
          <a:solidFill>
            <a:srgbClr val="EBF0F8"/>
          </a:solidFill>
          <a:ln w="15240">
            <a:solidFill>
              <a:srgbClr val="2D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Signoff</a:t>
            </a:r>
            <a:b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/ DRC-style checks / Power</a:t>
            </a:r>
          </a:p>
        </p:txBody>
      </p:sp>
      <p:cxnSp>
        <p:nvCxnSpPr>
          <p:cNvPr id="56" name="Connector 3">
            <a:extLst>
              <a:ext uri="{FF2B5EF4-FFF2-40B4-BE49-F238E27FC236}">
                <a16:creationId xmlns:a16="http://schemas.microsoft.com/office/drawing/2014/main" id="{E1CABA1E-2E6A-CDF3-9F6E-B8BF574E5BCC}"/>
              </a:ext>
            </a:extLst>
          </p:cNvPr>
          <p:cNvCxnSpPr/>
          <p:nvPr/>
        </p:nvCxnSpPr>
        <p:spPr>
          <a:xfrm>
            <a:off x="5486400" y="2324100"/>
            <a:ext cx="164592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66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D7A01-E386-16E5-2F4F-9FBCABF5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1BDCE80-4022-1500-125F-2425E5AAF837}"/>
              </a:ext>
            </a:extLst>
          </p:cNvPr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BC6B97-CF31-02F2-28BE-AE66862B6345}"/>
              </a:ext>
            </a:extLst>
          </p:cNvPr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026DECA-9282-B99C-28EF-DE413D5BB363}"/>
              </a:ext>
            </a:extLst>
          </p:cNvPr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D8BDD8C-D3D5-2AB3-E010-553269077B5E}"/>
              </a:ext>
            </a:extLst>
          </p:cNvPr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C592BCE-12B6-9FB3-0355-F3804013B6A9}"/>
              </a:ext>
            </a:extLst>
          </p:cNvPr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BA9F9BB-30F8-A1ED-4ECD-18D2577C4902}"/>
              </a:ext>
            </a:extLst>
          </p:cNvPr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21BACC2-3FD4-CA49-BA50-B196627F0CA7}"/>
              </a:ext>
            </a:extLst>
          </p:cNvPr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3632DA1-A812-F0DE-B0D0-F0CFE66E3C52}"/>
              </a:ext>
            </a:extLst>
          </p:cNvPr>
          <p:cNvSpPr>
            <a:spLocks noGrp="1"/>
          </p:cNvSpPr>
          <p:nvPr/>
        </p:nvSpPr>
        <p:spPr>
          <a:xfrm>
            <a:off x="1143000" y="1638300"/>
            <a:ext cx="10515600" cy="787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RESULTS &amp; PHYSICAL DESIGN VALIDATION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8EE7977D-65DC-2F52-C0C1-75AFCC22A0A3}"/>
              </a:ext>
            </a:extLst>
          </p:cNvPr>
          <p:cNvSpPr txBox="1"/>
          <p:nvPr/>
        </p:nvSpPr>
        <p:spPr>
          <a:xfrm>
            <a:off x="2511096" y="9334577"/>
            <a:ext cx="41465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latin typeface="Times New Roman"/>
              </a:rPr>
              <a:t>Post-route OpenROAD layout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65BAEF-3D6B-4DAF-D4BC-1801AB440549}"/>
              </a:ext>
            </a:extLst>
          </p:cNvPr>
          <p:cNvSpPr txBox="1"/>
          <p:nvPr/>
        </p:nvSpPr>
        <p:spPr>
          <a:xfrm>
            <a:off x="9412613" y="9391590"/>
            <a:ext cx="78847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latin typeface="Times New Roman"/>
              </a:rPr>
              <a:t>PS-04 STATUS: FUNCTIONAL ✓  |  PHYSICAL CHECKS CLEAN </a:t>
            </a:r>
            <a:r>
              <a:rPr sz="1150" b="1" dirty="0">
                <a:latin typeface="Times New Roman"/>
              </a:rPr>
              <a:t>✓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EE4F0D9-CAEE-2476-2BF1-1F7997F2B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0418" y="2324100"/>
            <a:ext cx="6064982" cy="6768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960F2C-9BEB-1B35-295D-4CE0D9C477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52" y="2324099"/>
            <a:ext cx="9828050" cy="704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9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B8C1D-8E3B-77CF-4F20-46D4EE3C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8AD59C1-5F20-E557-544F-3305AC8110C4}"/>
              </a:ext>
            </a:extLst>
          </p:cNvPr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2C21C6-A016-C64D-AE6F-8E7E4210B061}"/>
              </a:ext>
            </a:extLst>
          </p:cNvPr>
          <p:cNvSpPr/>
          <p:nvPr/>
        </p:nvSpPr>
        <p:spPr>
          <a:xfrm>
            <a:off x="4600883" y="-876300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7988953-3093-3FE5-291F-DE9DA8E7BB2C}"/>
              </a:ext>
            </a:extLst>
          </p:cNvPr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A6DC3AC-1F61-3180-A32D-518BEF041C07}"/>
              </a:ext>
            </a:extLst>
          </p:cNvPr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95E6CC8-9D72-22D7-E89C-68BC003FB076}"/>
              </a:ext>
            </a:extLst>
          </p:cNvPr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73ABAB0-B8EF-2225-B090-F1BFF465F3E7}"/>
              </a:ext>
            </a:extLst>
          </p:cNvPr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A6702C2-2F19-264C-45C0-CB522A1CD0F5}"/>
              </a:ext>
            </a:extLst>
          </p:cNvPr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D0265A-316B-C6EC-5AB5-4B02BD79869C}"/>
              </a:ext>
            </a:extLst>
          </p:cNvPr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6D6E9B-AFCC-3ECF-49BE-CDC5C9D16D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22" y="6039226"/>
            <a:ext cx="7750950" cy="3415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4F695C-6AA7-BAD0-10B5-19902BB0258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49" y="1503065"/>
            <a:ext cx="8117053" cy="419327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75098B-AB96-AE7E-FB13-B7B5DFF54FDF}"/>
              </a:ext>
            </a:extLst>
          </p:cNvPr>
          <p:cNvSpPr txBox="1"/>
          <p:nvPr/>
        </p:nvSpPr>
        <p:spPr>
          <a:xfrm>
            <a:off x="241601" y="854936"/>
            <a:ext cx="3963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OUTPUTS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C81C2C-F77A-E1DA-0BEA-ED6B5D6A24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308" y="6057900"/>
            <a:ext cx="8709690" cy="37213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776047-2097-AA6F-A2B9-0056A373D87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950" b="25719"/>
          <a:stretch>
            <a:fillRect/>
          </a:stretch>
        </p:blipFill>
        <p:spPr>
          <a:xfrm>
            <a:off x="9890655" y="1563006"/>
            <a:ext cx="7494996" cy="418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6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4801" y="2384867"/>
            <a:ext cx="17735402" cy="8122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3680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RESEARCH AND REFERENCES</a:t>
            </a:r>
          </a:p>
          <a:p>
            <a:pPr algn="ctr">
              <a:lnSpc>
                <a:spcPts val="5152"/>
              </a:lnSpc>
            </a:pPr>
            <a:endParaRPr lang="en-US" sz="368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E. Cummings, Simulation and Synthesis Techniques for Asynchronous FIFO Design, SNUG San Jose, 2002.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E. Cummings and P.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Alfke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Simulation and Synthesis Techniques for Asynchronous FIFO Design with Asynchronous Pointer Comparisons, SNUG San Jose, 2002.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Asynchronous Pipeline FIFO for Low-Power Applications, IEEE Conference Publication.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Gray, Pulse Code Communication, U.S. Patent 2,632,058, 1953.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IEEE, </a:t>
            </a:r>
            <a:r>
              <a:rPr lang="en-I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Standard for Verilog/</a:t>
            </a:r>
            <a:r>
              <a:rPr lang="en-IN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SystemVerilog</a:t>
            </a:r>
            <a:r>
              <a:rPr lang="en-I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description and verification languages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RTL implementation methodology.</a:t>
            </a:r>
          </a:p>
          <a:p>
            <a:pPr algn="ctr">
              <a:lnSpc>
                <a:spcPts val="5152"/>
              </a:lnSpc>
            </a:pPr>
            <a:endParaRPr lang="en-US" sz="368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484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 MT Bold</vt:lpstr>
      <vt:lpstr>Times New Roman MT</vt:lpstr>
      <vt:lpstr>Horizon</vt:lpstr>
      <vt:lpstr>Arial</vt:lpstr>
      <vt:lpstr>Calibri</vt:lpstr>
      <vt:lpstr>Canva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</dc:title>
  <dc:creator>Daniel Jayasurya</dc:creator>
  <cp:lastModifiedBy>Gokul R</cp:lastModifiedBy>
  <cp:revision>7</cp:revision>
  <dcterms:created xsi:type="dcterms:W3CDTF">2006-08-16T00:00:00Z</dcterms:created>
  <dcterms:modified xsi:type="dcterms:W3CDTF">2026-08-29T05:09:53Z</dcterms:modified>
  <dc:identifier>DAHTdevX50Q</dc:identifier>
</cp:coreProperties>
</file>